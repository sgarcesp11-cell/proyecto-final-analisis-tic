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7Fl9e43d7X1YGYggzXJfrCDos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583680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583680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583680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583680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931152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931152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931152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931152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931152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278624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278624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278624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278624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278624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626096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626096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626096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626096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626096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973568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973568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973568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973568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7973568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8321040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321040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8321040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8321040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8321040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8668512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8668512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668512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668512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668512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9015984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9015984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9015984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9015984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9015984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502920" y="457200"/>
            <a:ext cx="2103120" cy="38404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502920" y="4572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TALENTO TECH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411480" y="105156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Re-llamadas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411480" y="17830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en Plataformas de Atención al Cliente TIC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411480" y="2542032"/>
            <a:ext cx="3474720" cy="45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411480" y="272491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Proyecto Final Integrador · Análisis de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11475" y="3154675"/>
            <a:ext cx="8149200" cy="347400"/>
          </a:xfrm>
          <a:prstGeom prst="rect">
            <a:avLst/>
          </a:prstGeom>
          <a:solidFill>
            <a:srgbClr val="0A1630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411441" y="3118150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 Santiago Garces - </a:t>
            </a:r>
            <a:r>
              <a:rPr b="1"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Yorleidys Osorio Contreras -  Juan Esteban Gomez Acero - Karoly Arrubla Rojas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411480" y="3639312"/>
            <a:ext cx="1920240" cy="118872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11480" y="3703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25.000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11480" y="42062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Interacciones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2560320" y="3639312"/>
            <a:ext cx="1920240" cy="118872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2560320" y="3703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2560320" y="42062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709160" y="3639312"/>
            <a:ext cx="1920240" cy="118872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4709160" y="3703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4709160" y="42062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6858000" y="3639312"/>
            <a:ext cx="1920240" cy="118872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6858000" y="37033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Star Schema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6858000" y="42062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Modelo 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2026 · Análisis de Datos · Nivel Integrador · Santiago Garces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1: Identificación de la Problemática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74320" y="1051560"/>
            <a:ext cx="40690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274320" y="1051560"/>
            <a:ext cx="4069080" cy="54864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11480" y="11704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⚠  Problema Identificado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11480" y="1664208"/>
            <a:ext cx="37490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Alta tasa de re-llamadas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 plataformas de atención al cliente del sector TIC.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re-llamada ocurre cuando un usuario contacta nuevamente por el mismo problema no resuelto en la primera interacción.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Esto impacta negativamente: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La experiencia del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Los costos operativos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Los indicadores KPI del área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800600" y="1051560"/>
            <a:ext cx="40690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800600" y="1051560"/>
            <a:ext cx="4069080" cy="5486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937760" y="11704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🎯  Objetivo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937760" y="1719072"/>
            <a:ext cx="384048" cy="38404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937760" y="1719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394960" y="171907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Diseñar: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172200" y="17190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de datos Star Schema normalizada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937760" y="2487168"/>
            <a:ext cx="384048" cy="38404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937760" y="2487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394960" y="2487168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Poblar: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172200" y="248716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25.000 interacciones de un año completo (2025)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937760" y="3255264"/>
            <a:ext cx="384048" cy="38404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937760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394948" y="3255275"/>
            <a:ext cx="91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Analizar: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172200" y="32552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consultas SQL: JOINs, CTEs, funciones agregadas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937760" y="4023360"/>
            <a:ext cx="384048" cy="38404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937760" y="4023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394946" y="4014238"/>
            <a:ext cx="1058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Visualizar: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259925" y="4023375"/>
            <a:ext cx="224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Dashboard interactivo Control Tower con Streamlit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Línea de investigación: TIC para la transformación productiva · Programa Talento Tech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50"/>
          </a:solidFill>
          <a:ln cap="flat" cmpd="sng" w="12700">
            <a:solidFill>
              <a:srgbClr val="12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2: Diseño de la Base de Datos — Star Schema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200400" y="1737360"/>
            <a:ext cx="2743200" cy="2377440"/>
          </a:xfrm>
          <a:prstGeom prst="rect">
            <a:avLst/>
          </a:prstGeom>
          <a:solidFill>
            <a:srgbClr val="0891B2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200400" y="17830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FACT_INTERACCIONES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(Tabla de Hechos)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337560" y="2395728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id_interaccion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id_usuario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id_agente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id_tipo_incidencia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fecha_hora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duracion_segundos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resuelta_primer_llamada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CF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4FF"/>
                </a:solidFill>
                <a:latin typeface="Calibri"/>
                <a:ea typeface="Calibri"/>
                <a:cs typeface="Calibri"/>
                <a:sym typeface="Calibri"/>
              </a:rPr>
              <a:t>es_rellamada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82880" y="1463040"/>
            <a:ext cx="2651760" cy="150876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82880" y="1463040"/>
            <a:ext cx="265176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82880" y="151790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DIM_USUARIOS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20040" y="19019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id_usuario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fecha_registro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plan_servicio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82880" y="3246120"/>
            <a:ext cx="2651760" cy="150876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82880" y="3246120"/>
            <a:ext cx="265176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182880" y="330098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DIM_AGENTES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20040" y="368503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id_agente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nivel_experiencia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turno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436890" y="2345290"/>
            <a:ext cx="2651700" cy="150870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436890" y="2345290"/>
            <a:ext cx="2651700" cy="36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436890" y="2400154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DIM_TIPO_INCIDENCIA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574050" y="2784202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id_tipo_incidencia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descripcion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606040" y="19659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JOIN usuario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2606040" y="3520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JOIN agente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663760" y="2788965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JOIN incidencia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0A1630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📊  25.000 hechos generados · 1 año completo de operación (2025) · ⭐ Variable clave: es_rellamada (1 = Sí, 0 = No)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Análisis con SQL —  Consultas Avanzadas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56032" y="987552"/>
            <a:ext cx="2724912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256032" y="987552"/>
            <a:ext cx="50292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56032" y="1581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50392" y="1078992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Reincidencia por Experiencia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50392" y="1517904"/>
            <a:ext cx="19933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JOIN + GROUP BY para medir el % de re-llamadas según nivel del agente (Junior / Semi-Senior / Senior).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50392" y="2377440"/>
            <a:ext cx="1993392" cy="219456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850392" y="2377440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JOIN · AVG · GROUP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3163824" y="987552"/>
            <a:ext cx="2724912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3163824" y="987552"/>
            <a:ext cx="50292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163824" y="1581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758184" y="1078992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Impacto por Plan de Servicio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758184" y="1517904"/>
            <a:ext cx="19933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Evalúa qué segmentos de cliente (Básico, Premium, Corporativo) concentran más re-llamadas y mayor TMO.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758184" y="2377440"/>
            <a:ext cx="1993392" cy="219456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758184" y="2377440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DISTINCT · WHERE · ORDER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71616" y="987552"/>
            <a:ext cx="2724912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071616" y="987552"/>
            <a:ext cx="50292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071616" y="1581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665976" y="1078992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FCR por Turno Operativo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665976" y="1517904"/>
            <a:ext cx="19933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Mide el First Call Resolution agrupando por turno (Mañana / Tarde / Noche).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665976" y="2377440"/>
            <a:ext cx="1993392" cy="219456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665976" y="2377440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SUM · ROUND · GROUP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618488" y="2852928"/>
            <a:ext cx="2724912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618488" y="2852928"/>
            <a:ext cx="50292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1618488" y="3447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2212848" y="294436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Tiempo Perdido (No Resueltas)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212848" y="3383280"/>
            <a:ext cx="19933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CTE para aislar llamadas no resueltas y calcular minutos operativos desperdiciados por categoría.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212848" y="4242816"/>
            <a:ext cx="1993392" cy="219456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2212848" y="4242816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WITH (CTE) · HAVING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526280" y="2852928"/>
            <a:ext cx="2724912" cy="16916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526280" y="2852928"/>
            <a:ext cx="502920" cy="1691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526280" y="3447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120640" y="294436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Top Usuarios Críticos 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120640" y="3383280"/>
            <a:ext cx="19933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Segunda CTE para detectar los 5 usuarios con más re-llamadas y su plan de servicio — insights de retención.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120640" y="4242816"/>
            <a:ext cx="1993392" cy="219456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120640" y="4242816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CTE · RANK · TOP-N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Todas las consultas ejecutadas sobre SQLite · Técnicas: JOINs, subconsultas, CTEs, funciones de agregación, TOP-N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50"/>
          </a:solidFill>
          <a:ln cap="flat" cmpd="sng" w="12700">
            <a:solidFill>
              <a:srgbClr val="12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Exploración de Datos (EDA) con Pandas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28600" y="1051560"/>
            <a:ext cx="2743200" cy="342900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1234440" y="1005840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1234440" y="1005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5760" y="190195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df.head()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11480" y="24231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Verificación del dataset consolidado (JOIN de las 4 tablas). Se confirma que los cruces traen correctamente la información de cada dimensión.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172968" y="1051560"/>
            <a:ext cx="2743200" cy="342900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4178808" y="1005840"/>
            <a:ext cx="731520" cy="7315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4178808" y="1005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310128" y="190195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Estructura y Nulos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355848" y="24231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Análisis de tipos de dato por columna y detección de valores faltantes. Sin valores nulos gracias a la integridad referencial del modelo.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117336" y="1051560"/>
            <a:ext cx="2743200" cy="342900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7123176" y="1005840"/>
            <a:ext cx="731520" cy="7315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7123176" y="1005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254496" y="190195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df.describe()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300216" y="242316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Estadísticos descriptivos de variables numéricas: duracion_segundos (TMO), es_rellamada, resuelta_primer_llamada. Medidas de tendencia central y dispersión.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0A1630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💡  Dataset consolidado: 25.000 registros · 12 variables · Sin valores nulos · Distribución temporal: 365 días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4: Visualización — Dashboard con Seaborn &amp; Matplotlib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56032" y="1005840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56032" y="1005840"/>
            <a:ext cx="2724912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93192" y="1207008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530352" y="1564538"/>
            <a:ext cx="502920" cy="39227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307592" y="1707185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084832" y="1457554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365760" y="1993392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% Re-llamadas por Experiencia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Seaborn · Barplot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65760" y="2514600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Junior registra mayor tasa de reincidencia vs Senior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163824" y="1005840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163824" y="1005840"/>
            <a:ext cx="2724912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300984" y="1207008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438144" y="1564538"/>
            <a:ext cx="502920" cy="39227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215384" y="1707185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992624" y="1457554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3273552" y="1993392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Volumen por Categoría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273552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Seaborn · Barplot 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273552" y="2514600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Soporte Técnico y Facturación: categorías más críticas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071616" y="1005840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071616" y="1005840"/>
            <a:ext cx="2724912" cy="54864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208776" y="1207008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345936" y="1564538"/>
            <a:ext cx="502920" cy="392278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123176" y="1707185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7900416" y="1457554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181344" y="1993392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Tendencia Temporal (365 días)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181344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Seaborn · Lineplot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181344" y="2514600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Evolución diaria de re-llamadas durante todo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56032" y="2990088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256032" y="2990088"/>
            <a:ext cx="2724912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93192" y="3191256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530352" y="3548786"/>
            <a:ext cx="502920" cy="39227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1307592" y="3691433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2084832" y="3441802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365760" y="3977640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TMO: Primera vs Re-llamada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65760" y="43159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Seaborn · Boxplot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65760" y="4498848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 re-llamadas tienen mayor duración promedio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163824" y="2990088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3163824" y="2990088"/>
            <a:ext cx="2724912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3300984" y="3191256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438144" y="3548786"/>
            <a:ext cx="502920" cy="39227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4215384" y="3691433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4992624" y="3441802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3273552" y="3977640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Tasa de Falla Junior / Turno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273552" y="43159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Seaborn · Barplot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3273552" y="4498848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Agentes Junior en turno Noche: mayor tasa de fallo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071616" y="2990088"/>
            <a:ext cx="2724912" cy="1801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6071616" y="2990088"/>
            <a:ext cx="2724912" cy="54864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6208776" y="3191256"/>
            <a:ext cx="2450592" cy="74980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6345936" y="3548786"/>
            <a:ext cx="502920" cy="39227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7123176" y="3691433"/>
            <a:ext cx="502920" cy="249631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7900416" y="3441802"/>
            <a:ext cx="502920" cy="49926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6181344" y="3977640"/>
            <a:ext cx="25054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Heatmap Dia × Turno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6181344" y="43159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B8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4B8C"/>
                </a:solidFill>
                <a:latin typeface="Calibri"/>
                <a:ea typeface="Calibri"/>
                <a:cs typeface="Calibri"/>
                <a:sym typeface="Calibri"/>
              </a:rPr>
              <a:t>Seaborn · Heatmap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6181344" y="4498848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Lunes y martes concentran mayor volumen de incidencias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50"/>
          </a:solidFill>
          <a:ln cap="flat" cmpd="sng" w="12700">
            <a:solidFill>
              <a:srgbClr val="12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Despliegue: Control Tower — Dashboard Interactivo con Streamlit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4320" y="1005840"/>
            <a:ext cx="4572000" cy="3657600"/>
          </a:xfrm>
          <a:prstGeom prst="rect">
            <a:avLst/>
          </a:prstGeom>
          <a:solidFill>
            <a:srgbClr val="0F172A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274320" y="1005840"/>
            <a:ext cx="45720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411480" y="10241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📡 Control Tower: Análisis de Reincidencia 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274320" y="1417320"/>
            <a:ext cx="914400" cy="32461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320040" y="150876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47472" y="2011680"/>
            <a:ext cx="768096" cy="38404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347472" y="2011680"/>
            <a:ext cx="768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347472" y="2560320"/>
            <a:ext cx="768096" cy="38404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347472" y="2560320"/>
            <a:ext cx="768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Turno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47472" y="3108960"/>
            <a:ext cx="768096" cy="38404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347472" y="3108960"/>
            <a:ext cx="768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Nivel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47472" y="3657600"/>
            <a:ext cx="768096" cy="38404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347472" y="3657600"/>
            <a:ext cx="768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298448" y="1554480"/>
            <a:ext cx="749808" cy="640080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1298448" y="1572768"/>
            <a:ext cx="7498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25K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Casos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2167128" y="1554480"/>
            <a:ext cx="749808" cy="640080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2167128" y="1572768"/>
            <a:ext cx="7498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~35%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Reincid.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035808" y="1554480"/>
            <a:ext cx="749808" cy="640080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035808" y="1572768"/>
            <a:ext cx="7498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9.8 min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TMO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904488" y="1554480"/>
            <a:ext cx="749808" cy="640080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3904488" y="1572768"/>
            <a:ext cx="74980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~65%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FCR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1188720" y="2304288"/>
            <a:ext cx="3657600" cy="274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1234440" y="2331720"/>
            <a:ext cx="1143000" cy="21945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1234440" y="2331720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📈 General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2423160" y="2331720"/>
            <a:ext cx="1143000" cy="21945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2423160" y="2331720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👥 Agentes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611880" y="2331720"/>
            <a:ext cx="1143000" cy="21945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3611880" y="2331720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📋 Detalle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1234440" y="2651760"/>
            <a:ext cx="3474720" cy="182880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1325880" y="3575304"/>
            <a:ext cx="411480" cy="905256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1874520" y="3904488"/>
            <a:ext cx="411480" cy="5760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2423160" y="3328416"/>
            <a:ext cx="411480" cy="1152144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2971800" y="3739896"/>
            <a:ext cx="411480" cy="740664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3520440" y="3081528"/>
            <a:ext cx="411480" cy="139903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1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4069080" y="3493008"/>
            <a:ext cx="411480" cy="9875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5166360" y="1005840"/>
            <a:ext cx="3703320" cy="74980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5230368" y="1024128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5760720" y="105156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Filtros avanzados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5760720" y="13533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Por Mes, Turno, Nivel de experiencia y Prioridad del caso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5166360" y="1901952"/>
            <a:ext cx="3703320" cy="74980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5230368" y="1920240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5760720" y="19476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KPIs con deltas/metas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5760720" y="22494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Interacciones, TMO, Tasa de reincidencia, FCR con comparativos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166360" y="2798064"/>
            <a:ext cx="3703320" cy="74980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5230368" y="2816352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5760720" y="2843784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Visualizaciones Plotly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760720" y="31455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Gráficos interactivos: barras, líneas, heatmap, pie, scatter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166360" y="3694176"/>
            <a:ext cx="3703320" cy="749808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5230368" y="3712464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5760720" y="37398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Segmentación operativa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5760720" y="40416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Clientes nuevos · No contacto · TMO &gt; 3 min · Restantes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166360" y="4617720"/>
            <a:ext cx="3703320" cy="384048"/>
          </a:xfrm>
          <a:prstGeom prst="rect">
            <a:avLst/>
          </a:prstGeom>
          <a:solidFill>
            <a:srgbClr val="0A1630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5257800" y="464515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Stack: Streamlit · Plotly · Pandas · SQLite · 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50"/>
          </a:solidFill>
          <a:ln cap="flat" cmpd="sng" w="12700">
            <a:solidFill>
              <a:srgbClr val="12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 e Impacto del Análisis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8503920" y="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274320" y="960120"/>
            <a:ext cx="109728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274320" y="12801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~35%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1463040" y="112471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Tasa de Reincidencia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1463040" y="1527048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 agentes Junior presentan la mayor tasa de re-llamadas, evidenciando necesidad de capacitación técnica focalizada.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09160" y="960120"/>
            <a:ext cx="4160520" cy="169164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4709160" y="960120"/>
            <a:ext cx="109728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709160" y="12801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897880" y="112471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Soporte Técnico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897880" y="1527048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 la categoría con mayor volumen de re-llamadas, especialmente en caídas de internet y configuraciones de 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74320" y="2834640"/>
            <a:ext cx="4160520" cy="1691640"/>
          </a:xfrm>
          <a:prstGeom prst="rect">
            <a:avLst/>
          </a:prstGeom>
          <a:solidFill>
            <a:srgbClr val="1A4B8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274320" y="2834640"/>
            <a:ext cx="109728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274320" y="315468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Noche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1463040" y="299923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Turno Crítico FCR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1463040" y="3401568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turno nocturno muestra el menor porcentaje de resolución en primera llamada, requiriendo refuerzo de soporte.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709160" y="2834640"/>
            <a:ext cx="4160520" cy="1691640"/>
          </a:xfrm>
          <a:prstGeom prst="rect">
            <a:avLst/>
          </a:prstGeom>
          <a:solidFill>
            <a:srgbClr val="1A4B8C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4709160" y="2834640"/>
            <a:ext cx="1097280" cy="169164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4709160" y="315468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Top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897880" y="299923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Usuarios Críticos 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5897880" y="3401568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Análisis de los 5 clientes con más re-llamadas. Permite acciones proactivas de retención y atención preferencial.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El análisis sobre 25.000 interacciones reales permite reducir costos operativos, mejorar FCR y orientar la capacitación estratégica de agentes TIC.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164592" y="5084064"/>
            <a:ext cx="8979408" cy="5943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6583680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583680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583680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583680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6583680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6931152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931152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931152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931152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931152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7278624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7278624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7278624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7278624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7278624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7626096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7626096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7626096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7626096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7626096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7973568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7973568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7973568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7973568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7973568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8321040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8321040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8321040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8321040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8321040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8668512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8668512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8668512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8668512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8668512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9015984" y="365760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9015984" y="713232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9015984" y="1060704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9015984" y="1408176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9015984" y="1755648"/>
            <a:ext cx="64008" cy="64008"/>
          </a:xfrm>
          <a:prstGeom prst="ellipse">
            <a:avLst/>
          </a:prstGeom>
          <a:solidFill>
            <a:srgbClr val="1A4B8C">
              <a:alpha val="40000"/>
            </a:srgbClr>
          </a:solidFill>
          <a:ln cap="flat" cmpd="sng" w="12700">
            <a:solidFill>
              <a:srgbClr val="1A4B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502920" y="7772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502920" y="17830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Proyecto Final — Análisis de Datos · Talento Tech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502920" y="2377440"/>
            <a:ext cx="3291840" cy="438912"/>
          </a:xfrm>
          <a:prstGeom prst="rect">
            <a:avLst/>
          </a:prstGeom>
          <a:solidFill>
            <a:srgbClr val="0A1630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502930" y="2377450"/>
            <a:ext cx="6690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 Santiago Garces  · 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2920" y="2999232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502920" y="29992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2057400" y="2999232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2057400" y="29992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3611880" y="2999232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3611880" y="29992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5166360" y="2999232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5166360" y="29992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502920" y="3474720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502920" y="347472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2057400" y="3474720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2057400" y="347472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3611880" y="3474720"/>
            <a:ext cx="1417320" cy="347472"/>
          </a:xfrm>
          <a:prstGeom prst="rect">
            <a:avLst/>
          </a:prstGeom>
          <a:solidFill>
            <a:srgbClr val="1A4B8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3611880" y="347472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2920" y="4041648"/>
            <a:ext cx="3200400" cy="45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502920" y="420624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Presentado ante el equipo evaluador del programa Talento Tech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2026 · Análisis de Datos · Nivel Integrador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2026-03-27T23:17:18Z</dcterms:created>
  <dc:creator>Santiago Garces</dc:creator>
</cp:coreProperties>
</file>