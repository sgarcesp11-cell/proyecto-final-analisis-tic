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5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4" roundtripDataSignature="AMtx7mg7Fl9e43d7X1YGYggzXJfrCDos1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84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4" name="Google Shape;21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7" name="Google Shape;27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9" name="Google Shape;33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0" name="Google Shape;37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6583680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6583680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6583680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6583680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6583680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6931152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6931152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6931152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6931152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6931152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7278624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7278624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7278624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1"/>
          <p:cNvSpPr/>
          <p:nvPr/>
        </p:nvSpPr>
        <p:spPr>
          <a:xfrm>
            <a:off x="7278624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7278624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7626096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1"/>
          <p:cNvSpPr/>
          <p:nvPr/>
        </p:nvSpPr>
        <p:spPr>
          <a:xfrm>
            <a:off x="7626096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1"/>
          <p:cNvSpPr/>
          <p:nvPr/>
        </p:nvSpPr>
        <p:spPr>
          <a:xfrm>
            <a:off x="7626096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7626096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7626096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"/>
          <p:cNvSpPr/>
          <p:nvPr/>
        </p:nvSpPr>
        <p:spPr>
          <a:xfrm>
            <a:off x="7973568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"/>
          <p:cNvSpPr/>
          <p:nvPr/>
        </p:nvSpPr>
        <p:spPr>
          <a:xfrm>
            <a:off x="7973568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"/>
          <p:cNvSpPr/>
          <p:nvPr/>
        </p:nvSpPr>
        <p:spPr>
          <a:xfrm>
            <a:off x="7973568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"/>
          <p:cNvSpPr/>
          <p:nvPr/>
        </p:nvSpPr>
        <p:spPr>
          <a:xfrm>
            <a:off x="7973568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"/>
          <p:cNvSpPr/>
          <p:nvPr/>
        </p:nvSpPr>
        <p:spPr>
          <a:xfrm>
            <a:off x="7973568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1"/>
          <p:cNvSpPr/>
          <p:nvPr/>
        </p:nvSpPr>
        <p:spPr>
          <a:xfrm>
            <a:off x="8321040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"/>
          <p:cNvSpPr/>
          <p:nvPr/>
        </p:nvSpPr>
        <p:spPr>
          <a:xfrm>
            <a:off x="8321040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"/>
          <p:cNvSpPr/>
          <p:nvPr/>
        </p:nvSpPr>
        <p:spPr>
          <a:xfrm>
            <a:off x="8321040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"/>
          <p:cNvSpPr/>
          <p:nvPr/>
        </p:nvSpPr>
        <p:spPr>
          <a:xfrm>
            <a:off x="8321040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"/>
          <p:cNvSpPr/>
          <p:nvPr/>
        </p:nvSpPr>
        <p:spPr>
          <a:xfrm>
            <a:off x="8321040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"/>
          <p:cNvSpPr/>
          <p:nvPr/>
        </p:nvSpPr>
        <p:spPr>
          <a:xfrm>
            <a:off x="8668512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1"/>
          <p:cNvSpPr/>
          <p:nvPr/>
        </p:nvSpPr>
        <p:spPr>
          <a:xfrm>
            <a:off x="8668512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"/>
          <p:cNvSpPr/>
          <p:nvPr/>
        </p:nvSpPr>
        <p:spPr>
          <a:xfrm>
            <a:off x="8668512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1"/>
          <p:cNvSpPr/>
          <p:nvPr/>
        </p:nvSpPr>
        <p:spPr>
          <a:xfrm>
            <a:off x="8668512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"/>
          <p:cNvSpPr/>
          <p:nvPr/>
        </p:nvSpPr>
        <p:spPr>
          <a:xfrm>
            <a:off x="8668512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"/>
          <p:cNvSpPr/>
          <p:nvPr/>
        </p:nvSpPr>
        <p:spPr>
          <a:xfrm>
            <a:off x="9015984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"/>
          <p:cNvSpPr/>
          <p:nvPr/>
        </p:nvSpPr>
        <p:spPr>
          <a:xfrm>
            <a:off x="9015984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"/>
          <p:cNvSpPr/>
          <p:nvPr/>
        </p:nvSpPr>
        <p:spPr>
          <a:xfrm>
            <a:off x="9015984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"/>
          <p:cNvSpPr/>
          <p:nvPr/>
        </p:nvSpPr>
        <p:spPr>
          <a:xfrm>
            <a:off x="9015984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"/>
          <p:cNvSpPr/>
          <p:nvPr/>
        </p:nvSpPr>
        <p:spPr>
          <a:xfrm>
            <a:off x="9015984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"/>
          <p:cNvSpPr/>
          <p:nvPr/>
        </p:nvSpPr>
        <p:spPr>
          <a:xfrm>
            <a:off x="502920" y="457200"/>
            <a:ext cx="2103120" cy="384048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"/>
          <p:cNvSpPr/>
          <p:nvPr/>
        </p:nvSpPr>
        <p:spPr>
          <a:xfrm>
            <a:off x="502920" y="457200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TALENTO TECH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"/>
          <p:cNvSpPr/>
          <p:nvPr/>
        </p:nvSpPr>
        <p:spPr>
          <a:xfrm>
            <a:off x="411480" y="1051560"/>
            <a:ext cx="68580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lang="en-US" sz="4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 de Re-llamadas</a:t>
            </a:r>
            <a:endParaRPr sz="4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"/>
          <p:cNvSpPr/>
          <p:nvPr/>
        </p:nvSpPr>
        <p:spPr>
          <a:xfrm>
            <a:off x="411480" y="178308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600"/>
              <a:buFont typeface="Calibri"/>
              <a:buNone/>
            </a:pPr>
            <a:r>
              <a:rPr lang="en-US" sz="260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en Plataformas de Atención al Cliente TIC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"/>
          <p:cNvSpPr/>
          <p:nvPr/>
        </p:nvSpPr>
        <p:spPr>
          <a:xfrm>
            <a:off x="411480" y="2542032"/>
            <a:ext cx="3474720" cy="4572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"/>
          <p:cNvSpPr/>
          <p:nvPr/>
        </p:nvSpPr>
        <p:spPr>
          <a:xfrm>
            <a:off x="411480" y="2724912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lang="en-US" sz="1500" b="0" i="1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Proyecto Final Integrador · Análisis de Datos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"/>
          <p:cNvSpPr/>
          <p:nvPr/>
        </p:nvSpPr>
        <p:spPr>
          <a:xfrm>
            <a:off x="411475" y="3154675"/>
            <a:ext cx="8149200" cy="347400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1"/>
          <p:cNvSpPr/>
          <p:nvPr/>
        </p:nvSpPr>
        <p:spPr>
          <a:xfrm>
            <a:off x="411441" y="3118150"/>
            <a:ext cx="83211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  Santiago Garces - </a:t>
            </a:r>
            <a:r>
              <a:rPr lang="en-US" sz="1200" b="1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Yorleidys Osorio Contreras -  Juan Esteban Gomez Acero - Karoly Arrubla Rojas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"/>
          <p:cNvSpPr/>
          <p:nvPr/>
        </p:nvSpPr>
        <p:spPr>
          <a:xfrm>
            <a:off x="411480" y="3639312"/>
            <a:ext cx="1920240" cy="118872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"/>
          <p:cNvSpPr/>
          <p:nvPr/>
        </p:nvSpPr>
        <p:spPr>
          <a:xfrm>
            <a:off x="411480" y="370332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25.000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"/>
          <p:cNvSpPr/>
          <p:nvPr/>
        </p:nvSpPr>
        <p:spPr>
          <a:xfrm>
            <a:off x="411480" y="42062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Interacciones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"/>
          <p:cNvSpPr/>
          <p:nvPr/>
        </p:nvSpPr>
        <p:spPr>
          <a:xfrm>
            <a:off x="2560320" y="3639312"/>
            <a:ext cx="1920240" cy="118872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"/>
          <p:cNvSpPr/>
          <p:nvPr/>
        </p:nvSpPr>
        <p:spPr>
          <a:xfrm>
            <a:off x="2560320" y="370332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200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"/>
          <p:cNvSpPr/>
          <p:nvPr/>
        </p:nvSpPr>
        <p:spPr>
          <a:xfrm>
            <a:off x="2560320" y="42062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Usuarios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"/>
          <p:cNvSpPr/>
          <p:nvPr/>
        </p:nvSpPr>
        <p:spPr>
          <a:xfrm>
            <a:off x="4709160" y="3639312"/>
            <a:ext cx="1920240" cy="118872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"/>
          <p:cNvSpPr/>
          <p:nvPr/>
        </p:nvSpPr>
        <p:spPr>
          <a:xfrm>
            <a:off x="4709160" y="370332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"/>
          <p:cNvSpPr/>
          <p:nvPr/>
        </p:nvSpPr>
        <p:spPr>
          <a:xfrm>
            <a:off x="4709160" y="42062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Agentes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"/>
          <p:cNvSpPr/>
          <p:nvPr/>
        </p:nvSpPr>
        <p:spPr>
          <a:xfrm>
            <a:off x="6858000" y="3639312"/>
            <a:ext cx="1920240" cy="118872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"/>
          <p:cNvSpPr/>
          <p:nvPr/>
        </p:nvSpPr>
        <p:spPr>
          <a:xfrm>
            <a:off x="6858000" y="370332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Star Schema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"/>
          <p:cNvSpPr/>
          <p:nvPr/>
        </p:nvSpPr>
        <p:spPr>
          <a:xfrm>
            <a:off x="6858000" y="42062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Modelo BD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"/>
          <p:cNvSpPr/>
          <p:nvPr/>
        </p:nvSpPr>
        <p:spPr>
          <a:xfrm>
            <a:off x="411480" y="4846320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1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2026 · </a:t>
            </a:r>
            <a:r>
              <a:rPr lang="en-US" sz="900" b="0" i="1" u="none" strike="noStrike" cap="none" dirty="0" err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r>
              <a:rPr lang="en-US" sz="900" b="0" i="1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de Datos · Nivel </a:t>
            </a:r>
            <a:r>
              <a:rPr lang="en-US" sz="900" b="0" i="1" u="none" strike="noStrike" cap="none" dirty="0" err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Integrador</a:t>
            </a:r>
            <a:r>
              <a:rPr lang="en-US" sz="900" b="0" i="1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1: Identificación de la Problemática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274320" y="1051560"/>
            <a:ext cx="4069080" cy="35661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"/>
          <p:cNvSpPr/>
          <p:nvPr/>
        </p:nvSpPr>
        <p:spPr>
          <a:xfrm>
            <a:off x="274320" y="1051560"/>
            <a:ext cx="4069080" cy="54864"/>
          </a:xfrm>
          <a:prstGeom prst="rect">
            <a:avLst/>
          </a:prstGeom>
          <a:solidFill>
            <a:srgbClr val="E53E3E"/>
          </a:solidFill>
          <a:ln w="12700" cap="flat" cmpd="sng">
            <a:solidFill>
              <a:srgbClr val="E53E3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"/>
          <p:cNvSpPr/>
          <p:nvPr/>
        </p:nvSpPr>
        <p:spPr>
          <a:xfrm>
            <a:off x="411480" y="117043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⚠  Problema Identificado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411480" y="1664208"/>
            <a:ext cx="3749040" cy="2697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Alta tasa de re-llamadas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en plataformas de atención al cliente del sector TIC.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Una re-llamada ocurre cuando un usuario contacta nuevamente por el mismo problema no resuelto en la primera interacción.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Esto impacta negativamente: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• La experiencia del usuario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• Los costos operativos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• Los indicadores KPI del área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4800600" y="1051560"/>
            <a:ext cx="4069080" cy="35661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"/>
          <p:cNvSpPr/>
          <p:nvPr/>
        </p:nvSpPr>
        <p:spPr>
          <a:xfrm>
            <a:off x="4800600" y="1051560"/>
            <a:ext cx="4069080" cy="54864"/>
          </a:xfrm>
          <a:prstGeom prst="rect">
            <a:avLst/>
          </a:prstGeom>
          <a:solidFill>
            <a:srgbClr val="16A34A"/>
          </a:solidFill>
          <a:ln w="12700" cap="flat" cmpd="sng">
            <a:solidFill>
              <a:srgbClr val="16A3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4937760" y="117043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🎯  Objetivo del Proyecto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4937760" y="1719072"/>
            <a:ext cx="384048" cy="384048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4937760" y="17190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5394960" y="1719072"/>
            <a:ext cx="7772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Diseñar: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6172200" y="1719072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Base de datos Star Schema normalizada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4937760" y="2487168"/>
            <a:ext cx="384048" cy="384048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4937760" y="248716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5394960" y="2487168"/>
            <a:ext cx="7772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Poblar: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172200" y="24871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25.000 interacciones de un año completo (2025)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4937760" y="3255264"/>
            <a:ext cx="384048" cy="384048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4937760" y="325526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5394948" y="3255275"/>
            <a:ext cx="9138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Analizar: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172200" y="3255264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 consultas SQL: JOINs, CTEs, funciones agregadas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4937760" y="4023360"/>
            <a:ext cx="384048" cy="384048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4937760" y="402336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5394946" y="4014238"/>
            <a:ext cx="10584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Visualizar: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6259925" y="4023375"/>
            <a:ext cx="22440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Dashboard interactivo Control Tower con Streamlit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1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Línea de investigación: TIC para la transformación productiva · Programa Talento Tech · 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050"/>
          </a:solidFill>
          <a:ln w="12700" cap="flat" cmpd="sng">
            <a:solidFill>
              <a:srgbClr val="122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3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2: Diseño de la Base de Datos — Star Schema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3200400" y="1737360"/>
            <a:ext cx="2743200" cy="2377440"/>
          </a:xfrm>
          <a:prstGeom prst="rect">
            <a:avLst/>
          </a:prstGeom>
          <a:solidFill>
            <a:srgbClr val="0891B2"/>
          </a:solidFill>
          <a:ln w="254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3200400" y="1783080"/>
            <a:ext cx="2743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FACT_INTERACCIONES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(Tabla de Hechos)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3337560" y="2395728"/>
            <a:ext cx="246888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id_interaccion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id_usuario (FK)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id_agente (FK)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id_tipo_incidencia (FK)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fecha_hora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duracion_segundos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resuelta_primer_llamada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es_rellamada ⭐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182880" y="1463040"/>
            <a:ext cx="2651760" cy="150876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182880" y="1463040"/>
            <a:ext cx="2651760" cy="36576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3"/>
          <p:cNvSpPr/>
          <p:nvPr/>
        </p:nvSpPr>
        <p:spPr>
          <a:xfrm>
            <a:off x="182880" y="1517904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DIM_USUARIOS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2004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id_usuario (PK)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nombre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fecha_registro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plan_servicio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182880" y="3246120"/>
            <a:ext cx="2651760" cy="150876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3"/>
          <p:cNvSpPr/>
          <p:nvPr/>
        </p:nvSpPr>
        <p:spPr>
          <a:xfrm>
            <a:off x="182880" y="3246120"/>
            <a:ext cx="2651760" cy="36576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182880" y="3300984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DIM_AGENTES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320040" y="368503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id_agente (PK)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nombre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nivel_experiencia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turno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6436890" y="2345290"/>
            <a:ext cx="2651700" cy="150870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"/>
          <p:cNvSpPr/>
          <p:nvPr/>
        </p:nvSpPr>
        <p:spPr>
          <a:xfrm>
            <a:off x="6436890" y="2345290"/>
            <a:ext cx="2651700" cy="36600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3"/>
          <p:cNvSpPr/>
          <p:nvPr/>
        </p:nvSpPr>
        <p:spPr>
          <a:xfrm>
            <a:off x="6436890" y="2400154"/>
            <a:ext cx="2651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DIM_TIPO_INCIDENCIA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6574050" y="2784202"/>
            <a:ext cx="23775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id_tipo_incidencia (PK)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categoria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descripcion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prioridad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2606040" y="196596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800"/>
              <a:buFont typeface="Calibri"/>
              <a:buNone/>
            </a:pPr>
            <a:r>
              <a:rPr lang="en-US" sz="800" b="0" i="1" u="none" strike="noStrike" cap="none">
                <a:solidFill>
                  <a:srgbClr val="00FF00"/>
                </a:solidFill>
                <a:latin typeface="Calibri"/>
                <a:ea typeface="Calibri"/>
                <a:cs typeface="Calibri"/>
                <a:sym typeface="Calibri"/>
              </a:rPr>
              <a:t>JOIN usuario</a:t>
            </a:r>
            <a:endParaRPr sz="800" b="0" i="0" u="none" strike="noStrike" cap="none">
              <a:solidFill>
                <a:srgbClr val="00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2606040" y="35204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800"/>
              <a:buFont typeface="Calibri"/>
              <a:buNone/>
            </a:pPr>
            <a:r>
              <a:rPr lang="en-US" sz="800" b="0" i="1" u="none" strike="noStrike" cap="none">
                <a:solidFill>
                  <a:srgbClr val="00FF00"/>
                </a:solidFill>
                <a:latin typeface="Calibri"/>
                <a:ea typeface="Calibri"/>
                <a:cs typeface="Calibri"/>
                <a:sym typeface="Calibri"/>
              </a:rPr>
              <a:t>JOIN agente</a:t>
            </a:r>
            <a:endParaRPr sz="800" b="0" i="0" u="none" strike="noStrike" cap="none">
              <a:solidFill>
                <a:srgbClr val="00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5663760" y="2788965"/>
            <a:ext cx="1097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800"/>
              <a:buFont typeface="Calibri"/>
              <a:buNone/>
            </a:pPr>
            <a:r>
              <a:rPr lang="en-US" sz="800" b="0" i="1" u="none" strike="noStrike" cap="none">
                <a:solidFill>
                  <a:srgbClr val="00FF00"/>
                </a:solidFill>
                <a:latin typeface="Calibri"/>
                <a:ea typeface="Calibri"/>
                <a:cs typeface="Calibri"/>
                <a:sym typeface="Calibri"/>
              </a:rPr>
              <a:t>JOIN incidencia</a:t>
            </a:r>
            <a:endParaRPr sz="800" b="0" i="0" u="none" strike="noStrike" cap="none">
              <a:solidFill>
                <a:srgbClr val="00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274320" y="4645152"/>
            <a:ext cx="8595360" cy="365760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411480" y="4663440"/>
            <a:ext cx="8321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📊  25.000 hechos generados · 1 año completo de operación (2025) · ⭐ Variable clave: es_rellamada (1 = Sí, 0 = No)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0"/>
          </a:solidFill>
          <a:ln w="12700">
            <a:solidFill>
              <a:srgbClr val="0D1B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Fase 3: Análisis con SQL — 10 Consultas Avanzadas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0891B2"/>
                </a:solidFill>
              </a:rPr>
              <a:t>04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56032" y="886968"/>
            <a:ext cx="8631936" cy="347472"/>
          </a:xfrm>
          <a:prstGeom prst="rect">
            <a:avLst/>
          </a:prstGeom>
          <a:solidFill>
            <a:srgbClr val="0D1B40"/>
          </a:solidFill>
          <a:ln w="12700">
            <a:solidFill>
              <a:srgbClr val="0D1B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86968"/>
            <a:ext cx="566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B6D4"/>
                </a:solidFill>
              </a:rPr>
              <a:t>#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88696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</a:rPr>
              <a:t>Técnica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68880" y="88696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</a:rPr>
              <a:t>Consulta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12080" y="88696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</a:rPr>
              <a:t>Pregunta de negocio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" y="1234440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1234440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1234440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JOIN · AGG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68880" y="1234440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Reincidencia por Experiencia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12080" y="1234440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¿Los Junior generan más re-llamadas que los Senior?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1613916"/>
            <a:ext cx="8631936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1613916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1613916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WHERE · DISTINCT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68880" y="1613916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Impacto por Plan de Servicio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12080" y="1613916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¿Qué segmento de clientes tiene más re-llamadas?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" y="1993392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1993392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1993392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SUM · ROUND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468880" y="1993392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FCR por Turno Operativo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12080" y="1993392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¿Qué turno resuelve menos en el primer contacto?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6032" y="2372868"/>
            <a:ext cx="8631936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" y="2372868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2960" y="2372868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CTE · HAVING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468880" y="2372868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Tiempo Perdido (No Resueltas)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12080" y="2372868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¿Cuántos minutos se pierden por categoría?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2752344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2752344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" y="2752344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CTE · LIMIT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468880" y="2752344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Top 5 Usuarios Críticos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12080" y="2752344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¿Qué usuarios concentran más re-llamadas?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56032" y="3131820"/>
            <a:ext cx="8631936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6032" y="3131820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6032" y="3131820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2960" y="3131820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CASE WHEN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2468880" y="3131820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Segmentación Operativa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212080" y="3131820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¿Cómo se distribuye la operación por segmentos?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56032" y="3511296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6032" y="3511296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6032" y="3511296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Q7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22960" y="3511296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2 JOINs · CASE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468880" y="3511296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Matriz de Riesgo Prioridad × Nivel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212080" y="3511296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¿Casos críticos en manos de agentes Junior?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56032" y="3890772"/>
            <a:ext cx="8631936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56032" y="3890772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6032" y="3890772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Q8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2960" y="3890772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DATE · LIMIT 10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468880" y="3890772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Saturación Diaria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212080" y="3890772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¿Cuáles son los 10 días con más re-llamadas?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56032" y="4270248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6032" y="4270248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6032" y="4270248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Q9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2960" y="4270248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CASE · AVG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2468880" y="4270248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AHT Primera vs. Re-llamada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212080" y="4270248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¿Cuánto más demora una re-llamada por categoría?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56032" y="4649724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6032" y="4649724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Q10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" y="4649724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Subconsulta FROM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468880" y="4649724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Tasa de Falla Junior por Turno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212080" y="4649724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¿En qué turno fallan más los agentes Junior?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256032" y="4864608"/>
            <a:ext cx="164592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050"/>
          </a:solidFill>
          <a:ln w="12700" cap="flat" cmpd="sng">
            <a:solidFill>
              <a:srgbClr val="122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Exploración de Datos (EDA) con Pandas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228600" y="1051560"/>
            <a:ext cx="2743200" cy="342900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5"/>
          <p:cNvSpPr/>
          <p:nvPr/>
        </p:nvSpPr>
        <p:spPr>
          <a:xfrm>
            <a:off x="1234440" y="1005840"/>
            <a:ext cx="731520" cy="731520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5"/>
          <p:cNvSpPr/>
          <p:nvPr/>
        </p:nvSpPr>
        <p:spPr>
          <a:xfrm>
            <a:off x="1234440" y="10058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365760" y="190195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df.head()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411480" y="2423160"/>
            <a:ext cx="237744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Verificación del dataset consolidado (JOIN de las 4 tablas). Se confirma que los cruces traen correctamente la información de cada dimensión.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172968" y="1051560"/>
            <a:ext cx="2743200" cy="342900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"/>
          <p:cNvSpPr/>
          <p:nvPr/>
        </p:nvSpPr>
        <p:spPr>
          <a:xfrm>
            <a:off x="4178808" y="1005840"/>
            <a:ext cx="731520" cy="731520"/>
          </a:xfrm>
          <a:prstGeom prst="ellipse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5"/>
          <p:cNvSpPr/>
          <p:nvPr/>
        </p:nvSpPr>
        <p:spPr>
          <a:xfrm>
            <a:off x="4178808" y="10058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3310128" y="190195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Estructura y Nulos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3355848" y="2423160"/>
            <a:ext cx="237744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Análisis de tipos de dato por columna y detección de valores faltantes. Sin valores nulos gracias a la integridad referencial del modelo.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6117336" y="1051560"/>
            <a:ext cx="2743200" cy="342900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5"/>
          <p:cNvSpPr/>
          <p:nvPr/>
        </p:nvSpPr>
        <p:spPr>
          <a:xfrm>
            <a:off x="7123176" y="1005840"/>
            <a:ext cx="731520" cy="731520"/>
          </a:xfrm>
          <a:prstGeom prst="ellipse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5"/>
          <p:cNvSpPr/>
          <p:nvPr/>
        </p:nvSpPr>
        <p:spPr>
          <a:xfrm>
            <a:off x="7123176" y="10058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6254496" y="190195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df.describe()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6300216" y="2423160"/>
            <a:ext cx="237744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Estadísticos descriptivos de variables numéricas: duracion_segundos (TMO), es_rellamada, resuelta_primer_llamada. Medidas de tendencia central y dispersión.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228600" y="4645152"/>
            <a:ext cx="8686800" cy="365760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5"/>
          <p:cNvSpPr/>
          <p:nvPr/>
        </p:nvSpPr>
        <p:spPr>
          <a:xfrm>
            <a:off x="365760" y="4663440"/>
            <a:ext cx="8412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💡  Dataset consolidado: 25.000 registros · 12 variables · Sin valores nulos · Distribución temporal: 365 días (2025)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B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6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6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4: Visualización — Dashboard con Seaborn &amp; Matplotlib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256032" y="1005840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256032" y="1005840"/>
            <a:ext cx="2724912" cy="54864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393192" y="1207008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530352" y="1564538"/>
            <a:ext cx="502920" cy="392278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307592" y="1707185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6"/>
          <p:cNvSpPr/>
          <p:nvPr/>
        </p:nvSpPr>
        <p:spPr>
          <a:xfrm>
            <a:off x="2084832" y="1457554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365760" y="1993392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% Re-llamadas por Experiencia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365760" y="233172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Seaborn · Barplot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365760" y="2514600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Junior registra mayor tasa de reincidencia vs Senior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3163824" y="1005840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6"/>
          <p:cNvSpPr/>
          <p:nvPr/>
        </p:nvSpPr>
        <p:spPr>
          <a:xfrm>
            <a:off x="3163824" y="1005840"/>
            <a:ext cx="2724912" cy="54864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3300984" y="1207008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3438144" y="1564538"/>
            <a:ext cx="502920" cy="392278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4215384" y="1707185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4992624" y="1457554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3273552" y="1993392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Volumen por Categoría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3273552" y="233172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Seaborn · Barplot H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3273552" y="2514600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Soporte Técnico y Facturación: categorías más críticas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6071616" y="1005840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71616" y="1005840"/>
            <a:ext cx="2724912" cy="54864"/>
          </a:xfrm>
          <a:prstGeom prst="rect">
            <a:avLst/>
          </a:prstGeom>
          <a:solidFill>
            <a:srgbClr val="E53E3E"/>
          </a:solidFill>
          <a:ln w="12700" cap="flat" cmpd="sng">
            <a:solidFill>
              <a:srgbClr val="E53E3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208776" y="1207008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6345936" y="1564538"/>
            <a:ext cx="502920" cy="392278"/>
          </a:xfrm>
          <a:prstGeom prst="rect">
            <a:avLst/>
          </a:prstGeom>
          <a:solidFill>
            <a:srgbClr val="E53E3E"/>
          </a:solidFill>
          <a:ln w="12700" cap="flat" cmpd="sng">
            <a:solidFill>
              <a:srgbClr val="E53E3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7123176" y="1707185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7900416" y="1457554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6"/>
          <p:cNvSpPr/>
          <p:nvPr/>
        </p:nvSpPr>
        <p:spPr>
          <a:xfrm>
            <a:off x="6181344" y="1993392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Tendencia Temporal (365 días)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6181344" y="233172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3E3E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Seaborn · Lineplot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6181344" y="2514600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Evolución diaria de re-llamadas durante todo 2025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256032" y="2990088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6"/>
          <p:cNvSpPr/>
          <p:nvPr/>
        </p:nvSpPr>
        <p:spPr>
          <a:xfrm>
            <a:off x="256032" y="2990088"/>
            <a:ext cx="2724912" cy="54864"/>
          </a:xfrm>
          <a:prstGeom prst="rect">
            <a:avLst/>
          </a:prstGeom>
          <a:solidFill>
            <a:srgbClr val="7C3AED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6"/>
          <p:cNvSpPr/>
          <p:nvPr/>
        </p:nvSpPr>
        <p:spPr>
          <a:xfrm>
            <a:off x="393192" y="3191256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6"/>
          <p:cNvSpPr/>
          <p:nvPr/>
        </p:nvSpPr>
        <p:spPr>
          <a:xfrm>
            <a:off x="530352" y="3548786"/>
            <a:ext cx="502920" cy="392278"/>
          </a:xfrm>
          <a:prstGeom prst="rect">
            <a:avLst/>
          </a:prstGeom>
          <a:solidFill>
            <a:srgbClr val="7C3AED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6"/>
          <p:cNvSpPr/>
          <p:nvPr/>
        </p:nvSpPr>
        <p:spPr>
          <a:xfrm>
            <a:off x="1307592" y="3691433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2084832" y="3441802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6"/>
          <p:cNvSpPr/>
          <p:nvPr/>
        </p:nvSpPr>
        <p:spPr>
          <a:xfrm>
            <a:off x="365760" y="3977640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TMO: Primera vs Re-llamada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6"/>
          <p:cNvSpPr/>
          <p:nvPr/>
        </p:nvSpPr>
        <p:spPr>
          <a:xfrm>
            <a:off x="365760" y="43159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Seaborn · Boxplot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/>
          <p:nvPr/>
        </p:nvSpPr>
        <p:spPr>
          <a:xfrm>
            <a:off x="365760" y="4498848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Las re-llamadas tienen mayor duración promedio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6"/>
          <p:cNvSpPr/>
          <p:nvPr/>
        </p:nvSpPr>
        <p:spPr>
          <a:xfrm>
            <a:off x="3163824" y="2990088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6"/>
          <p:cNvSpPr/>
          <p:nvPr/>
        </p:nvSpPr>
        <p:spPr>
          <a:xfrm>
            <a:off x="3163824" y="2990088"/>
            <a:ext cx="2724912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6"/>
          <p:cNvSpPr/>
          <p:nvPr/>
        </p:nvSpPr>
        <p:spPr>
          <a:xfrm>
            <a:off x="3300984" y="3191256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6"/>
          <p:cNvSpPr/>
          <p:nvPr/>
        </p:nvSpPr>
        <p:spPr>
          <a:xfrm>
            <a:off x="3438144" y="3548786"/>
            <a:ext cx="502920" cy="392278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6"/>
          <p:cNvSpPr/>
          <p:nvPr/>
        </p:nvSpPr>
        <p:spPr>
          <a:xfrm>
            <a:off x="4215384" y="3691433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6"/>
          <p:cNvSpPr/>
          <p:nvPr/>
        </p:nvSpPr>
        <p:spPr>
          <a:xfrm>
            <a:off x="4992624" y="3441802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6"/>
          <p:cNvSpPr/>
          <p:nvPr/>
        </p:nvSpPr>
        <p:spPr>
          <a:xfrm>
            <a:off x="3273552" y="3977640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Tasa de Falla Junior / Turno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6"/>
          <p:cNvSpPr/>
          <p:nvPr/>
        </p:nvSpPr>
        <p:spPr>
          <a:xfrm>
            <a:off x="3273552" y="43159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Seaborn · Barplot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3273552" y="4498848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Agentes Junior en turno Noche: mayor tasa de fallo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6"/>
          <p:cNvSpPr/>
          <p:nvPr/>
        </p:nvSpPr>
        <p:spPr>
          <a:xfrm>
            <a:off x="6071616" y="2990088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6"/>
          <p:cNvSpPr/>
          <p:nvPr/>
        </p:nvSpPr>
        <p:spPr>
          <a:xfrm>
            <a:off x="6071616" y="2990088"/>
            <a:ext cx="2724912" cy="54864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6"/>
          <p:cNvSpPr/>
          <p:nvPr/>
        </p:nvSpPr>
        <p:spPr>
          <a:xfrm>
            <a:off x="6208776" y="3191256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6"/>
          <p:cNvSpPr/>
          <p:nvPr/>
        </p:nvSpPr>
        <p:spPr>
          <a:xfrm>
            <a:off x="6345936" y="3548786"/>
            <a:ext cx="502920" cy="39227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6"/>
          <p:cNvSpPr/>
          <p:nvPr/>
        </p:nvSpPr>
        <p:spPr>
          <a:xfrm>
            <a:off x="7123176" y="3691433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6"/>
          <p:cNvSpPr/>
          <p:nvPr/>
        </p:nvSpPr>
        <p:spPr>
          <a:xfrm>
            <a:off x="7900416" y="3441802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6"/>
          <p:cNvSpPr/>
          <p:nvPr/>
        </p:nvSpPr>
        <p:spPr>
          <a:xfrm>
            <a:off x="6181344" y="3977640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Heatmap Dia × Turno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6"/>
          <p:cNvSpPr/>
          <p:nvPr/>
        </p:nvSpPr>
        <p:spPr>
          <a:xfrm>
            <a:off x="6181344" y="43159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4B8C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1A4B8C"/>
                </a:solidFill>
                <a:latin typeface="Calibri"/>
                <a:ea typeface="Calibri"/>
                <a:cs typeface="Calibri"/>
                <a:sym typeface="Calibri"/>
              </a:rPr>
              <a:t>Seaborn · Heatmap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6"/>
          <p:cNvSpPr/>
          <p:nvPr/>
        </p:nvSpPr>
        <p:spPr>
          <a:xfrm>
            <a:off x="6181344" y="4498848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Lunes y martes concentran mayor volumen de incidencias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7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050"/>
          </a:solidFill>
          <a:ln w="12700" cap="flat" cmpd="sng">
            <a:solidFill>
              <a:srgbClr val="122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libri"/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Despliegue: Control Tower — Dashboard Interactivo con Streamlit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/>
          <p:nvPr/>
        </p:nvSpPr>
        <p:spPr>
          <a:xfrm>
            <a:off x="274320" y="1005840"/>
            <a:ext cx="4572000" cy="3657600"/>
          </a:xfrm>
          <a:prstGeom prst="rect">
            <a:avLst/>
          </a:prstGeom>
          <a:solidFill>
            <a:srgbClr val="0F172A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7"/>
          <p:cNvSpPr/>
          <p:nvPr/>
        </p:nvSpPr>
        <p:spPr>
          <a:xfrm>
            <a:off x="274320" y="1005840"/>
            <a:ext cx="4572000" cy="411480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411480" y="1024128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📡 Control Tower: Análisis de Reincidencia TIC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274320" y="1417320"/>
            <a:ext cx="914400" cy="3246120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320040" y="1508760"/>
            <a:ext cx="8229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Filtros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7"/>
          <p:cNvSpPr/>
          <p:nvPr/>
        </p:nvSpPr>
        <p:spPr>
          <a:xfrm>
            <a:off x="347472" y="2011680"/>
            <a:ext cx="768096" cy="38404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347472" y="2011680"/>
            <a:ext cx="7680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Mes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"/>
          <p:cNvSpPr/>
          <p:nvPr/>
        </p:nvSpPr>
        <p:spPr>
          <a:xfrm>
            <a:off x="347472" y="2560320"/>
            <a:ext cx="768096" cy="38404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347472" y="2560320"/>
            <a:ext cx="7680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Turno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7"/>
          <p:cNvSpPr/>
          <p:nvPr/>
        </p:nvSpPr>
        <p:spPr>
          <a:xfrm>
            <a:off x="347472" y="3108960"/>
            <a:ext cx="768096" cy="38404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7"/>
          <p:cNvSpPr/>
          <p:nvPr/>
        </p:nvSpPr>
        <p:spPr>
          <a:xfrm>
            <a:off x="347472" y="3108960"/>
            <a:ext cx="7680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Nivel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7"/>
          <p:cNvSpPr/>
          <p:nvPr/>
        </p:nvSpPr>
        <p:spPr>
          <a:xfrm>
            <a:off x="347472" y="3657600"/>
            <a:ext cx="768096" cy="38404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7"/>
          <p:cNvSpPr/>
          <p:nvPr/>
        </p:nvSpPr>
        <p:spPr>
          <a:xfrm>
            <a:off x="347472" y="3657600"/>
            <a:ext cx="7680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Prioridad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1298448" y="1554480"/>
            <a:ext cx="749808" cy="640080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7"/>
          <p:cNvSpPr/>
          <p:nvPr/>
        </p:nvSpPr>
        <p:spPr>
          <a:xfrm>
            <a:off x="1298448" y="1572768"/>
            <a:ext cx="74980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25K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Casos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7"/>
          <p:cNvSpPr/>
          <p:nvPr/>
        </p:nvSpPr>
        <p:spPr>
          <a:xfrm>
            <a:off x="2167128" y="1554480"/>
            <a:ext cx="749808" cy="640080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7"/>
          <p:cNvSpPr/>
          <p:nvPr/>
        </p:nvSpPr>
        <p:spPr>
          <a:xfrm>
            <a:off x="2167128" y="1572768"/>
            <a:ext cx="74980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~35%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Reincid.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7"/>
          <p:cNvSpPr/>
          <p:nvPr/>
        </p:nvSpPr>
        <p:spPr>
          <a:xfrm>
            <a:off x="3035808" y="1554480"/>
            <a:ext cx="749808" cy="640080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7"/>
          <p:cNvSpPr/>
          <p:nvPr/>
        </p:nvSpPr>
        <p:spPr>
          <a:xfrm>
            <a:off x="3035808" y="1572768"/>
            <a:ext cx="74980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9.8 min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TMO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7"/>
          <p:cNvSpPr/>
          <p:nvPr/>
        </p:nvSpPr>
        <p:spPr>
          <a:xfrm>
            <a:off x="3904488" y="1554480"/>
            <a:ext cx="749808" cy="640080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7"/>
          <p:cNvSpPr/>
          <p:nvPr/>
        </p:nvSpPr>
        <p:spPr>
          <a:xfrm>
            <a:off x="3904488" y="1572768"/>
            <a:ext cx="74980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~65%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FCR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7"/>
          <p:cNvSpPr/>
          <p:nvPr/>
        </p:nvSpPr>
        <p:spPr>
          <a:xfrm>
            <a:off x="1188720" y="2304288"/>
            <a:ext cx="3657600" cy="274320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7"/>
          <p:cNvSpPr/>
          <p:nvPr/>
        </p:nvSpPr>
        <p:spPr>
          <a:xfrm>
            <a:off x="1234440" y="2331720"/>
            <a:ext cx="1143000" cy="219456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7"/>
          <p:cNvSpPr/>
          <p:nvPr/>
        </p:nvSpPr>
        <p:spPr>
          <a:xfrm>
            <a:off x="1234440" y="2331720"/>
            <a:ext cx="11430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700"/>
              <a:buFont typeface="Calibri"/>
              <a:buNone/>
            </a:pPr>
            <a:r>
              <a:rPr lang="en-US" sz="7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📈 General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7"/>
          <p:cNvSpPr/>
          <p:nvPr/>
        </p:nvSpPr>
        <p:spPr>
          <a:xfrm>
            <a:off x="2423160" y="2331720"/>
            <a:ext cx="1143000" cy="219456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7"/>
          <p:cNvSpPr/>
          <p:nvPr/>
        </p:nvSpPr>
        <p:spPr>
          <a:xfrm>
            <a:off x="2423160" y="2331720"/>
            <a:ext cx="11430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👥 Agentes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7"/>
          <p:cNvSpPr/>
          <p:nvPr/>
        </p:nvSpPr>
        <p:spPr>
          <a:xfrm>
            <a:off x="3611880" y="2331720"/>
            <a:ext cx="1143000" cy="219456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7"/>
          <p:cNvSpPr/>
          <p:nvPr/>
        </p:nvSpPr>
        <p:spPr>
          <a:xfrm>
            <a:off x="3611880" y="2331720"/>
            <a:ext cx="11430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📋 Detalle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1234440" y="2651760"/>
            <a:ext cx="3474720" cy="1828800"/>
          </a:xfrm>
          <a:prstGeom prst="rect">
            <a:avLst/>
          </a:prstGeom>
          <a:solidFill>
            <a:srgbClr val="1A2B4A"/>
          </a:solidFill>
          <a:ln w="12700" cap="flat" cmpd="sng">
            <a:solidFill>
              <a:srgbClr val="1A2B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7"/>
          <p:cNvSpPr/>
          <p:nvPr/>
        </p:nvSpPr>
        <p:spPr>
          <a:xfrm>
            <a:off x="1325880" y="3575304"/>
            <a:ext cx="411480" cy="905256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7"/>
          <p:cNvSpPr/>
          <p:nvPr/>
        </p:nvSpPr>
        <p:spPr>
          <a:xfrm>
            <a:off x="1874520" y="3904488"/>
            <a:ext cx="411480" cy="5760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7"/>
          <p:cNvSpPr/>
          <p:nvPr/>
        </p:nvSpPr>
        <p:spPr>
          <a:xfrm>
            <a:off x="2423160" y="3328416"/>
            <a:ext cx="411480" cy="1152144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7"/>
          <p:cNvSpPr/>
          <p:nvPr/>
        </p:nvSpPr>
        <p:spPr>
          <a:xfrm>
            <a:off x="2971800" y="3739896"/>
            <a:ext cx="411480" cy="740664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7"/>
          <p:cNvSpPr/>
          <p:nvPr/>
        </p:nvSpPr>
        <p:spPr>
          <a:xfrm>
            <a:off x="3520440" y="3081528"/>
            <a:ext cx="411480" cy="139903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7"/>
          <p:cNvSpPr/>
          <p:nvPr/>
        </p:nvSpPr>
        <p:spPr>
          <a:xfrm>
            <a:off x="4069080" y="3493008"/>
            <a:ext cx="411480" cy="987552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7"/>
          <p:cNvSpPr/>
          <p:nvPr/>
        </p:nvSpPr>
        <p:spPr>
          <a:xfrm>
            <a:off x="5166360" y="1005840"/>
            <a:ext cx="3703320" cy="74980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7"/>
          <p:cNvSpPr/>
          <p:nvPr/>
        </p:nvSpPr>
        <p:spPr>
          <a:xfrm>
            <a:off x="5230368" y="1024128"/>
            <a:ext cx="502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🗓️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5760720" y="105156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Filtros avanzados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/>
          <p:nvPr/>
        </p:nvSpPr>
        <p:spPr>
          <a:xfrm>
            <a:off x="5760720" y="1353312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Por Mes, Turno, Nivel de experiencia y Prioridad del caso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7"/>
          <p:cNvSpPr/>
          <p:nvPr/>
        </p:nvSpPr>
        <p:spPr>
          <a:xfrm>
            <a:off x="5166360" y="1901952"/>
            <a:ext cx="3703320" cy="74980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7"/>
          <p:cNvSpPr/>
          <p:nvPr/>
        </p:nvSpPr>
        <p:spPr>
          <a:xfrm>
            <a:off x="5230368" y="1920240"/>
            <a:ext cx="502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📌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7"/>
          <p:cNvSpPr/>
          <p:nvPr/>
        </p:nvSpPr>
        <p:spPr>
          <a:xfrm>
            <a:off x="5760720" y="1947672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KPIs con deltas/metas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7"/>
          <p:cNvSpPr/>
          <p:nvPr/>
        </p:nvSpPr>
        <p:spPr>
          <a:xfrm>
            <a:off x="5760720" y="2249424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Interacciones, TMO, Tasa de reincidencia, FCR con comparativos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/>
          <p:nvPr/>
        </p:nvSpPr>
        <p:spPr>
          <a:xfrm>
            <a:off x="5166360" y="2798064"/>
            <a:ext cx="3703320" cy="74980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7"/>
          <p:cNvSpPr/>
          <p:nvPr/>
        </p:nvSpPr>
        <p:spPr>
          <a:xfrm>
            <a:off x="5230368" y="2816352"/>
            <a:ext cx="502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/>
          <p:nvPr/>
        </p:nvSpPr>
        <p:spPr>
          <a:xfrm>
            <a:off x="5760720" y="2843784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Visualizaciones Plotly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7"/>
          <p:cNvSpPr/>
          <p:nvPr/>
        </p:nvSpPr>
        <p:spPr>
          <a:xfrm>
            <a:off x="5760720" y="3145536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Gráficos interactivos: barras, líneas, heatmap, pie, scatter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7"/>
          <p:cNvSpPr/>
          <p:nvPr/>
        </p:nvSpPr>
        <p:spPr>
          <a:xfrm>
            <a:off x="5166360" y="3694176"/>
            <a:ext cx="3703320" cy="74980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7"/>
          <p:cNvSpPr/>
          <p:nvPr/>
        </p:nvSpPr>
        <p:spPr>
          <a:xfrm>
            <a:off x="5230368" y="3712464"/>
            <a:ext cx="502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7"/>
          <p:cNvSpPr/>
          <p:nvPr/>
        </p:nvSpPr>
        <p:spPr>
          <a:xfrm>
            <a:off x="5760720" y="3739896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Segmentación operativa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7"/>
          <p:cNvSpPr/>
          <p:nvPr/>
        </p:nvSpPr>
        <p:spPr>
          <a:xfrm>
            <a:off x="5760720" y="4041648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Clientes nuevos · No contacto · TMO &gt; 3 min · Restantes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5166360" y="4617720"/>
            <a:ext cx="3703320" cy="384048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7"/>
          <p:cNvSpPr/>
          <p:nvPr/>
        </p:nvSpPr>
        <p:spPr>
          <a:xfrm>
            <a:off x="5257800" y="4645152"/>
            <a:ext cx="35204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Stack: Streamlit · Plotly · Pandas · SQLite · Python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050"/>
          </a:solidFill>
          <a:ln w="12700" cap="flat" cmpd="sng">
            <a:solidFill>
              <a:srgbClr val="122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8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8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Conclusiones e Impacto del Análisis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8"/>
          <p:cNvSpPr/>
          <p:nvPr/>
        </p:nvSpPr>
        <p:spPr>
          <a:xfrm>
            <a:off x="274320" y="960120"/>
            <a:ext cx="4160520" cy="169164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E53E3E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8"/>
          <p:cNvSpPr/>
          <p:nvPr/>
        </p:nvSpPr>
        <p:spPr>
          <a:xfrm>
            <a:off x="274320" y="960120"/>
            <a:ext cx="1097280" cy="16916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8"/>
          <p:cNvSpPr/>
          <p:nvPr/>
        </p:nvSpPr>
        <p:spPr>
          <a:xfrm>
            <a:off x="274320" y="1280160"/>
            <a:ext cx="109728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53E3E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📉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53E3E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~35%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8"/>
          <p:cNvSpPr/>
          <p:nvPr/>
        </p:nvSpPr>
        <p:spPr>
          <a:xfrm>
            <a:off x="1463040" y="1124712"/>
            <a:ext cx="28346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3E3E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Tasa de Reincidencia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8"/>
          <p:cNvSpPr/>
          <p:nvPr/>
        </p:nvSpPr>
        <p:spPr>
          <a:xfrm>
            <a:off x="1463040" y="1527048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Los agentes Junior presentan la mayor tasa de re-llamadas, evidenciando necesidad de capacitación técnica focalizada.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8"/>
          <p:cNvSpPr/>
          <p:nvPr/>
        </p:nvSpPr>
        <p:spPr>
          <a:xfrm>
            <a:off x="4709160" y="960120"/>
            <a:ext cx="4160520" cy="169164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8"/>
          <p:cNvSpPr/>
          <p:nvPr/>
        </p:nvSpPr>
        <p:spPr>
          <a:xfrm>
            <a:off x="4709160" y="960120"/>
            <a:ext cx="1097280" cy="16916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8"/>
          <p:cNvSpPr/>
          <p:nvPr/>
        </p:nvSpPr>
        <p:spPr>
          <a:xfrm>
            <a:off x="4709160" y="1280160"/>
            <a:ext cx="109728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🔧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#1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8"/>
          <p:cNvSpPr/>
          <p:nvPr/>
        </p:nvSpPr>
        <p:spPr>
          <a:xfrm>
            <a:off x="5897880" y="1124712"/>
            <a:ext cx="28346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Soporte Técnico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8"/>
          <p:cNvSpPr/>
          <p:nvPr/>
        </p:nvSpPr>
        <p:spPr>
          <a:xfrm>
            <a:off x="5897880" y="1527048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Es la categoría con mayor volumen de re-llamadas, especialmente en caídas de internet y configuraciones de red.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8"/>
          <p:cNvSpPr/>
          <p:nvPr/>
        </p:nvSpPr>
        <p:spPr>
          <a:xfrm>
            <a:off x="274320" y="2834640"/>
            <a:ext cx="4160520" cy="169164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8"/>
          <p:cNvSpPr/>
          <p:nvPr/>
        </p:nvSpPr>
        <p:spPr>
          <a:xfrm>
            <a:off x="274320" y="2834640"/>
            <a:ext cx="1097280" cy="16916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8"/>
          <p:cNvSpPr/>
          <p:nvPr/>
        </p:nvSpPr>
        <p:spPr>
          <a:xfrm>
            <a:off x="274320" y="3154680"/>
            <a:ext cx="109728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🌙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Noche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8"/>
          <p:cNvSpPr/>
          <p:nvPr/>
        </p:nvSpPr>
        <p:spPr>
          <a:xfrm>
            <a:off x="1463040" y="2999232"/>
            <a:ext cx="28346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Turno Crítico FCR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8"/>
          <p:cNvSpPr/>
          <p:nvPr/>
        </p:nvSpPr>
        <p:spPr>
          <a:xfrm>
            <a:off x="1463040" y="3401568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El turno nocturno muestra el menor porcentaje de resolución en primera llamada, requiriendo refuerzo de soporte.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8"/>
          <p:cNvSpPr/>
          <p:nvPr/>
        </p:nvSpPr>
        <p:spPr>
          <a:xfrm>
            <a:off x="4709160" y="2834640"/>
            <a:ext cx="4160520" cy="1691640"/>
          </a:xfrm>
          <a:prstGeom prst="rect">
            <a:avLst/>
          </a:prstGeom>
          <a:solidFill>
            <a:srgbClr val="1A4B8C"/>
          </a:solidFill>
          <a:ln w="25400" cap="flat" cmpd="sng">
            <a:solidFill>
              <a:srgbClr val="A78BFA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8"/>
          <p:cNvSpPr/>
          <p:nvPr/>
        </p:nvSpPr>
        <p:spPr>
          <a:xfrm>
            <a:off x="4709160" y="2834640"/>
            <a:ext cx="1097280" cy="16916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8"/>
          <p:cNvSpPr/>
          <p:nvPr/>
        </p:nvSpPr>
        <p:spPr>
          <a:xfrm>
            <a:off x="4709160" y="3154680"/>
            <a:ext cx="109728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Top 5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8"/>
          <p:cNvSpPr/>
          <p:nvPr/>
        </p:nvSpPr>
        <p:spPr>
          <a:xfrm>
            <a:off x="5897880" y="2999232"/>
            <a:ext cx="28346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Usuarios Críticos 🆕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8"/>
          <p:cNvSpPr/>
          <p:nvPr/>
        </p:nvSpPr>
        <p:spPr>
          <a:xfrm>
            <a:off x="5897880" y="3401568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Análisis de los 5 clientes con más re-llamadas. Permite acciones proactivas de retención y atención preferencial.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8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8"/>
          <p:cNvSpPr/>
          <p:nvPr/>
        </p:nvSpPr>
        <p:spPr>
          <a:xfrm>
            <a:off x="411480" y="4681728"/>
            <a:ext cx="8321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50"/>
              <a:buFont typeface="Calibri"/>
              <a:buNone/>
            </a:pPr>
            <a:r>
              <a:rPr lang="en-US" sz="105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El análisis sobre 25.000 interacciones reales permite reducir costos operativos, mejorar FCR y orientar la capacitación estratégica de agentes TIC.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9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164592" y="5084064"/>
            <a:ext cx="8979408" cy="59436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9"/>
          <p:cNvSpPr/>
          <p:nvPr/>
        </p:nvSpPr>
        <p:spPr>
          <a:xfrm>
            <a:off x="6583680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83680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583680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583680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9"/>
          <p:cNvSpPr/>
          <p:nvPr/>
        </p:nvSpPr>
        <p:spPr>
          <a:xfrm>
            <a:off x="6583680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6931152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931152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931152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6931152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931152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7278624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9"/>
          <p:cNvSpPr/>
          <p:nvPr/>
        </p:nvSpPr>
        <p:spPr>
          <a:xfrm>
            <a:off x="7278624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9"/>
          <p:cNvSpPr/>
          <p:nvPr/>
        </p:nvSpPr>
        <p:spPr>
          <a:xfrm>
            <a:off x="7278624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9"/>
          <p:cNvSpPr/>
          <p:nvPr/>
        </p:nvSpPr>
        <p:spPr>
          <a:xfrm>
            <a:off x="7278624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9"/>
          <p:cNvSpPr/>
          <p:nvPr/>
        </p:nvSpPr>
        <p:spPr>
          <a:xfrm>
            <a:off x="7278624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9"/>
          <p:cNvSpPr/>
          <p:nvPr/>
        </p:nvSpPr>
        <p:spPr>
          <a:xfrm>
            <a:off x="7626096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9"/>
          <p:cNvSpPr/>
          <p:nvPr/>
        </p:nvSpPr>
        <p:spPr>
          <a:xfrm>
            <a:off x="7626096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9"/>
          <p:cNvSpPr/>
          <p:nvPr/>
        </p:nvSpPr>
        <p:spPr>
          <a:xfrm>
            <a:off x="7626096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9"/>
          <p:cNvSpPr/>
          <p:nvPr/>
        </p:nvSpPr>
        <p:spPr>
          <a:xfrm>
            <a:off x="7626096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9"/>
          <p:cNvSpPr/>
          <p:nvPr/>
        </p:nvSpPr>
        <p:spPr>
          <a:xfrm>
            <a:off x="7626096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9"/>
          <p:cNvSpPr/>
          <p:nvPr/>
        </p:nvSpPr>
        <p:spPr>
          <a:xfrm>
            <a:off x="7973568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9"/>
          <p:cNvSpPr/>
          <p:nvPr/>
        </p:nvSpPr>
        <p:spPr>
          <a:xfrm>
            <a:off x="7973568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9"/>
          <p:cNvSpPr/>
          <p:nvPr/>
        </p:nvSpPr>
        <p:spPr>
          <a:xfrm>
            <a:off x="7973568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9"/>
          <p:cNvSpPr/>
          <p:nvPr/>
        </p:nvSpPr>
        <p:spPr>
          <a:xfrm>
            <a:off x="7973568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9"/>
          <p:cNvSpPr/>
          <p:nvPr/>
        </p:nvSpPr>
        <p:spPr>
          <a:xfrm>
            <a:off x="7973568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9"/>
          <p:cNvSpPr/>
          <p:nvPr/>
        </p:nvSpPr>
        <p:spPr>
          <a:xfrm>
            <a:off x="8321040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9"/>
          <p:cNvSpPr/>
          <p:nvPr/>
        </p:nvSpPr>
        <p:spPr>
          <a:xfrm>
            <a:off x="8321040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9"/>
          <p:cNvSpPr/>
          <p:nvPr/>
        </p:nvSpPr>
        <p:spPr>
          <a:xfrm>
            <a:off x="8321040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9"/>
          <p:cNvSpPr/>
          <p:nvPr/>
        </p:nvSpPr>
        <p:spPr>
          <a:xfrm>
            <a:off x="8321040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9"/>
          <p:cNvSpPr/>
          <p:nvPr/>
        </p:nvSpPr>
        <p:spPr>
          <a:xfrm>
            <a:off x="8321040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9"/>
          <p:cNvSpPr/>
          <p:nvPr/>
        </p:nvSpPr>
        <p:spPr>
          <a:xfrm>
            <a:off x="8668512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9"/>
          <p:cNvSpPr/>
          <p:nvPr/>
        </p:nvSpPr>
        <p:spPr>
          <a:xfrm>
            <a:off x="8668512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"/>
          <p:cNvSpPr/>
          <p:nvPr/>
        </p:nvSpPr>
        <p:spPr>
          <a:xfrm>
            <a:off x="8668512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9"/>
          <p:cNvSpPr/>
          <p:nvPr/>
        </p:nvSpPr>
        <p:spPr>
          <a:xfrm>
            <a:off x="8668512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9"/>
          <p:cNvSpPr/>
          <p:nvPr/>
        </p:nvSpPr>
        <p:spPr>
          <a:xfrm>
            <a:off x="8668512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9"/>
          <p:cNvSpPr/>
          <p:nvPr/>
        </p:nvSpPr>
        <p:spPr>
          <a:xfrm>
            <a:off x="9015984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9"/>
          <p:cNvSpPr/>
          <p:nvPr/>
        </p:nvSpPr>
        <p:spPr>
          <a:xfrm>
            <a:off x="9015984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9"/>
          <p:cNvSpPr/>
          <p:nvPr/>
        </p:nvSpPr>
        <p:spPr>
          <a:xfrm>
            <a:off x="9015984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9"/>
          <p:cNvSpPr/>
          <p:nvPr/>
        </p:nvSpPr>
        <p:spPr>
          <a:xfrm>
            <a:off x="9015984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9"/>
          <p:cNvSpPr/>
          <p:nvPr/>
        </p:nvSpPr>
        <p:spPr>
          <a:xfrm>
            <a:off x="9015984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9"/>
          <p:cNvSpPr/>
          <p:nvPr/>
        </p:nvSpPr>
        <p:spPr>
          <a:xfrm>
            <a:off x="502920" y="777240"/>
            <a:ext cx="5486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libri"/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¡Gracias!</a:t>
            </a:r>
            <a:endParaRPr sz="6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9"/>
          <p:cNvSpPr/>
          <p:nvPr/>
        </p:nvSpPr>
        <p:spPr>
          <a:xfrm>
            <a:off x="502920" y="178308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800"/>
              <a:buFont typeface="Calibri"/>
              <a:buNone/>
            </a:pPr>
            <a:r>
              <a:rPr lang="en-US" sz="1800" b="0" i="1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Proyecto Final — Análisis de Datos · Talento Tech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9"/>
          <p:cNvSpPr/>
          <p:nvPr/>
        </p:nvSpPr>
        <p:spPr>
          <a:xfrm>
            <a:off x="502920" y="2377440"/>
            <a:ext cx="3291840" cy="438912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9"/>
          <p:cNvSpPr/>
          <p:nvPr/>
        </p:nvSpPr>
        <p:spPr>
          <a:xfrm>
            <a:off x="502930" y="2377450"/>
            <a:ext cx="6690000" cy="4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  Santiago Garces  ·  2026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9"/>
          <p:cNvSpPr/>
          <p:nvPr/>
        </p:nvSpPr>
        <p:spPr>
          <a:xfrm>
            <a:off x="502920" y="2999232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9"/>
          <p:cNvSpPr/>
          <p:nvPr/>
        </p:nvSpPr>
        <p:spPr>
          <a:xfrm>
            <a:off x="502920" y="299923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9"/>
          <p:cNvSpPr/>
          <p:nvPr/>
        </p:nvSpPr>
        <p:spPr>
          <a:xfrm>
            <a:off x="2057400" y="2999232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9"/>
          <p:cNvSpPr/>
          <p:nvPr/>
        </p:nvSpPr>
        <p:spPr>
          <a:xfrm>
            <a:off x="2057400" y="299923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SQLite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9"/>
          <p:cNvSpPr/>
          <p:nvPr/>
        </p:nvSpPr>
        <p:spPr>
          <a:xfrm>
            <a:off x="3611880" y="2999232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9"/>
          <p:cNvSpPr/>
          <p:nvPr/>
        </p:nvSpPr>
        <p:spPr>
          <a:xfrm>
            <a:off x="3611880" y="299923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Pandas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9"/>
          <p:cNvSpPr/>
          <p:nvPr/>
        </p:nvSpPr>
        <p:spPr>
          <a:xfrm>
            <a:off x="5166360" y="2999232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9"/>
          <p:cNvSpPr/>
          <p:nvPr/>
        </p:nvSpPr>
        <p:spPr>
          <a:xfrm>
            <a:off x="5166360" y="299923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Matplotlib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9"/>
          <p:cNvSpPr/>
          <p:nvPr/>
        </p:nvSpPr>
        <p:spPr>
          <a:xfrm>
            <a:off x="502920" y="3474720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9"/>
          <p:cNvSpPr/>
          <p:nvPr/>
        </p:nvSpPr>
        <p:spPr>
          <a:xfrm>
            <a:off x="502920" y="3474720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Seaborn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9"/>
          <p:cNvSpPr/>
          <p:nvPr/>
        </p:nvSpPr>
        <p:spPr>
          <a:xfrm>
            <a:off x="2057400" y="3474720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9"/>
          <p:cNvSpPr/>
          <p:nvPr/>
        </p:nvSpPr>
        <p:spPr>
          <a:xfrm>
            <a:off x="2057400" y="3474720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Streamlit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9"/>
          <p:cNvSpPr/>
          <p:nvPr/>
        </p:nvSpPr>
        <p:spPr>
          <a:xfrm>
            <a:off x="3611880" y="3474720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9"/>
          <p:cNvSpPr/>
          <p:nvPr/>
        </p:nvSpPr>
        <p:spPr>
          <a:xfrm>
            <a:off x="3611880" y="3474720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Plotly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9"/>
          <p:cNvSpPr/>
          <p:nvPr/>
        </p:nvSpPr>
        <p:spPr>
          <a:xfrm>
            <a:off x="502920" y="4041648"/>
            <a:ext cx="3200400" cy="4572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9"/>
          <p:cNvSpPr/>
          <p:nvPr/>
        </p:nvSpPr>
        <p:spPr>
          <a:xfrm>
            <a:off x="502920" y="4206240"/>
            <a:ext cx="5943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Presentado ante el equipo evaluador del programa Talento Tech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2026 · Análisis de Datos · Nivel Integrador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1028</Words>
  <Application>Microsoft Office PowerPoint</Application>
  <PresentationFormat>Presentación en pantalla (16:9)</PresentationFormat>
  <Paragraphs>222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Santiago Garces</dc:creator>
  <cp:lastModifiedBy>Diego</cp:lastModifiedBy>
  <cp:revision>2</cp:revision>
  <dcterms:created xsi:type="dcterms:W3CDTF">2026-03-27T23:17:18Z</dcterms:created>
  <dcterms:modified xsi:type="dcterms:W3CDTF">2026-04-09T23:27:53Z</dcterms:modified>
</cp:coreProperties>
</file>